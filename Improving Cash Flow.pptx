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21E78-2A23-D6E4-429A-D204E90AB4B1}" v="61" dt="2025-12-08T22:39:04.841"/>
    <p1510:client id="{15417872-08C3-3C4C-FC2D-984A4544147D}" v="33" dt="2025-12-08T23:59:29.215"/>
    <p1510:client id="{30970DE8-775E-5E02-7C70-69B4D33FA1DC}" v="147" dt="2025-12-08T22:13:11.903"/>
    <p1510:client id="{5885F832-DB6C-0F86-22A7-95557463ECA5}" v="10" dt="2025-12-09T02:05:27.246"/>
    <p1510:client id="{868A7557-4971-8E0A-B367-A281459CAE3F}" v="10" dt="2025-12-09T01:05:25.468"/>
    <p1510:client id="{A9A49C41-D380-A169-37C6-3FDCB0B92CC3}" v="3" dt="2025-12-08T23:35:39.065"/>
    <p1510:client id="{FE4713BD-A08E-4867-82EE-9BEA45A263EE}" v="3" dt="2025-12-09T02:48:24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D52965-731E-4032-B651-9A3FDBC48DB8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40DE178-3563-41F7-9858-2D596AA5CEBF}">
      <dgm:prSet/>
      <dgm:spPr/>
      <dgm:t>
        <a:bodyPr/>
        <a:lstStyle/>
        <a:p>
          <a:r>
            <a:rPr lang="en-US" b="1"/>
            <a:t>Opportunity</a:t>
          </a:r>
          <a:r>
            <a:rPr lang="hu-HU" b="1"/>
            <a:t>: </a:t>
          </a:r>
          <a:r>
            <a:rPr lang="en-US"/>
            <a:t>The organization’s cash flow and financial stability can be significantly enhanced through the aggressive tackling and reducing the overdue invoices as the main opportunity.</a:t>
          </a:r>
        </a:p>
      </dgm:t>
    </dgm:pt>
    <dgm:pt modelId="{658266C1-528E-4BB9-866F-096D29E29609}" type="parTrans" cxnId="{38FADC95-D73B-4B94-BD15-FC29482810F9}">
      <dgm:prSet/>
      <dgm:spPr/>
      <dgm:t>
        <a:bodyPr/>
        <a:lstStyle/>
        <a:p>
          <a:endParaRPr lang="en-US"/>
        </a:p>
      </dgm:t>
    </dgm:pt>
    <dgm:pt modelId="{FDAB1694-5B93-487F-AAEB-2C278BA78E81}" type="sibTrans" cxnId="{38FADC95-D73B-4B94-BD15-FC29482810F9}">
      <dgm:prSet/>
      <dgm:spPr/>
      <dgm:t>
        <a:bodyPr/>
        <a:lstStyle/>
        <a:p>
          <a:endParaRPr lang="en-US"/>
        </a:p>
      </dgm:t>
    </dgm:pt>
    <dgm:pt modelId="{A85A4636-8ADF-40B0-9B37-B775E00E28DC}">
      <dgm:prSet/>
      <dgm:spPr/>
      <dgm:t>
        <a:bodyPr/>
        <a:lstStyle/>
        <a:p>
          <a:r>
            <a:rPr lang="hu-HU" b="1" dirty="0" err="1"/>
            <a:t>Current</a:t>
          </a:r>
          <a:r>
            <a:rPr lang="hu-HU" b="1" dirty="0"/>
            <a:t> </a:t>
          </a:r>
          <a:r>
            <a:rPr lang="hu-HU" b="1" dirty="0" err="1"/>
            <a:t>Problem</a:t>
          </a:r>
          <a:r>
            <a:rPr lang="hu-HU" b="1" dirty="0"/>
            <a:t>:</a:t>
          </a:r>
          <a:r>
            <a:rPr lang="en-US" dirty="0"/>
            <a:t>By analyzing the data, it becomes clear that the main source of revenue is the projects invoiced. It is expected that some of these invoices will become overdue, which will have a direct effect on working capital and will cause a slowdown in business operations</a:t>
          </a:r>
          <a:r>
            <a:rPr lang="hu-HU" dirty="0"/>
            <a:t>.</a:t>
          </a:r>
          <a:endParaRPr lang="en-US" dirty="0"/>
        </a:p>
      </dgm:t>
    </dgm:pt>
    <dgm:pt modelId="{D3BAFF0D-5622-4092-B985-FAFC4AB1FA03}" type="parTrans" cxnId="{BA66124F-4E59-4556-AFC1-01B09F831A25}">
      <dgm:prSet/>
      <dgm:spPr/>
      <dgm:t>
        <a:bodyPr/>
        <a:lstStyle/>
        <a:p>
          <a:endParaRPr lang="en-US"/>
        </a:p>
      </dgm:t>
    </dgm:pt>
    <dgm:pt modelId="{8A05CA87-CDF3-4717-90F7-8B1974FE1D5F}" type="sibTrans" cxnId="{BA66124F-4E59-4556-AFC1-01B09F831A25}">
      <dgm:prSet/>
      <dgm:spPr/>
      <dgm:t>
        <a:bodyPr/>
        <a:lstStyle/>
        <a:p>
          <a:endParaRPr lang="en-US"/>
        </a:p>
      </dgm:t>
    </dgm:pt>
    <dgm:pt modelId="{37DF3098-8044-48E1-8E02-70F0AE6ABED5}">
      <dgm:prSet/>
      <dgm:spPr/>
      <dgm:t>
        <a:bodyPr/>
        <a:lstStyle/>
        <a:p>
          <a:r>
            <a:rPr lang="hu-HU" b="1" dirty="0" err="1"/>
            <a:t>Solution</a:t>
          </a:r>
          <a:r>
            <a:rPr lang="hu-HU" dirty="0"/>
            <a:t>:</a:t>
          </a:r>
          <a:r>
            <a:rPr lang="en-US" dirty="0"/>
            <a:t>Implement a Targeted Accounts Receivable (AR) Optimization Program focusing on:</a:t>
          </a:r>
          <a:r>
            <a:rPr lang="hu-HU" dirty="0"/>
            <a:t> </a:t>
          </a:r>
          <a:r>
            <a:rPr lang="hu-HU" dirty="0" err="1"/>
            <a:t>customers</a:t>
          </a:r>
          <a:r>
            <a:rPr lang="hu-HU" dirty="0"/>
            <a:t>, </a:t>
          </a:r>
          <a:r>
            <a:rPr lang="hu-HU" dirty="0" err="1"/>
            <a:t>payments</a:t>
          </a:r>
          <a:r>
            <a:rPr lang="hu-HU" dirty="0"/>
            <a:t>, and </a:t>
          </a:r>
          <a:r>
            <a:rPr lang="hu-HU" dirty="0" err="1"/>
            <a:t>invoices</a:t>
          </a:r>
          <a:r>
            <a:rPr lang="hu-HU" dirty="0"/>
            <a:t>, and </a:t>
          </a:r>
          <a:r>
            <a:rPr lang="hu-HU" dirty="0" err="1"/>
            <a:t>eliminate</a:t>
          </a:r>
          <a:r>
            <a:rPr lang="hu-HU" dirty="0"/>
            <a:t> </a:t>
          </a:r>
          <a:r>
            <a:rPr lang="hu-HU" dirty="0" err="1"/>
            <a:t>all</a:t>
          </a:r>
          <a:r>
            <a:rPr lang="hu-HU" dirty="0"/>
            <a:t> </a:t>
          </a:r>
          <a:r>
            <a:rPr lang="hu-HU" dirty="0" err="1"/>
            <a:t>overdue</a:t>
          </a:r>
          <a:r>
            <a:rPr lang="hu-HU" dirty="0"/>
            <a:t> </a:t>
          </a:r>
          <a:r>
            <a:rPr lang="hu-HU" dirty="0" err="1"/>
            <a:t>invoices</a:t>
          </a:r>
          <a:r>
            <a:rPr lang="hu-HU" dirty="0"/>
            <a:t>. </a:t>
          </a:r>
          <a:endParaRPr lang="en-US" dirty="0"/>
        </a:p>
      </dgm:t>
    </dgm:pt>
    <dgm:pt modelId="{C6CF44CE-0A9B-481D-AEC0-5C6C5E6ACB88}" type="parTrans" cxnId="{3299F5F0-ABB7-49D8-BA0D-533704F80E58}">
      <dgm:prSet/>
      <dgm:spPr/>
      <dgm:t>
        <a:bodyPr/>
        <a:lstStyle/>
        <a:p>
          <a:endParaRPr lang="en-US"/>
        </a:p>
      </dgm:t>
    </dgm:pt>
    <dgm:pt modelId="{C9A0E272-1F77-4681-A918-5015298757EB}" type="sibTrans" cxnId="{3299F5F0-ABB7-49D8-BA0D-533704F80E58}">
      <dgm:prSet/>
      <dgm:spPr/>
      <dgm:t>
        <a:bodyPr/>
        <a:lstStyle/>
        <a:p>
          <a:endParaRPr lang="en-US"/>
        </a:p>
      </dgm:t>
    </dgm:pt>
    <dgm:pt modelId="{0F02757E-FC82-4570-B1CB-0E96F9B63A0C}" type="pres">
      <dgm:prSet presAssocID="{FDD52965-731E-4032-B651-9A3FDBC48DB8}" presName="root" presStyleCnt="0">
        <dgm:presLayoutVars>
          <dgm:dir/>
          <dgm:resizeHandles val="exact"/>
        </dgm:presLayoutVars>
      </dgm:prSet>
      <dgm:spPr/>
    </dgm:pt>
    <dgm:pt modelId="{5012C0AB-A5D5-4440-A797-478B8243CB39}" type="pres">
      <dgm:prSet presAssocID="{F40DE178-3563-41F7-9858-2D596AA5CEBF}" presName="compNode" presStyleCnt="0"/>
      <dgm:spPr/>
    </dgm:pt>
    <dgm:pt modelId="{BBF4FA0A-3D34-457C-AC45-47E052A27970}" type="pres">
      <dgm:prSet presAssocID="{F40DE178-3563-41F7-9858-2D596AA5CEBF}" presName="bgRect" presStyleLbl="bgShp" presStyleIdx="0" presStyleCnt="3"/>
      <dgm:spPr/>
    </dgm:pt>
    <dgm:pt modelId="{E402BD45-0C35-43BF-90BB-E610DA83F6FF}" type="pres">
      <dgm:prSet presAssocID="{F40DE178-3563-41F7-9858-2D596AA5CEB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319FE883-D6D5-4E93-95E5-2535925BCF77}" type="pres">
      <dgm:prSet presAssocID="{F40DE178-3563-41F7-9858-2D596AA5CEBF}" presName="spaceRect" presStyleCnt="0"/>
      <dgm:spPr/>
    </dgm:pt>
    <dgm:pt modelId="{00E3D3D1-198A-43DB-9EE7-2D89DD3F7788}" type="pres">
      <dgm:prSet presAssocID="{F40DE178-3563-41F7-9858-2D596AA5CEBF}" presName="parTx" presStyleLbl="revTx" presStyleIdx="0" presStyleCnt="3">
        <dgm:presLayoutVars>
          <dgm:chMax val="0"/>
          <dgm:chPref val="0"/>
        </dgm:presLayoutVars>
      </dgm:prSet>
      <dgm:spPr/>
    </dgm:pt>
    <dgm:pt modelId="{BBA158A7-9693-406D-A462-DAF41BDA2EDC}" type="pres">
      <dgm:prSet presAssocID="{FDAB1694-5B93-487F-AAEB-2C278BA78E81}" presName="sibTrans" presStyleCnt="0"/>
      <dgm:spPr/>
    </dgm:pt>
    <dgm:pt modelId="{8E01F4AB-1780-46A5-AEB2-35C55824546B}" type="pres">
      <dgm:prSet presAssocID="{A85A4636-8ADF-40B0-9B37-B775E00E28DC}" presName="compNode" presStyleCnt="0"/>
      <dgm:spPr/>
    </dgm:pt>
    <dgm:pt modelId="{CAE12029-0B05-4A71-A637-02899CFB41FD}" type="pres">
      <dgm:prSet presAssocID="{A85A4636-8ADF-40B0-9B37-B775E00E28DC}" presName="bgRect" presStyleLbl="bgShp" presStyleIdx="1" presStyleCnt="3"/>
      <dgm:spPr/>
    </dgm:pt>
    <dgm:pt modelId="{EAF35D97-49C1-4B2D-BF31-2BE42C0C2637}" type="pres">
      <dgm:prSet presAssocID="{A85A4636-8ADF-40B0-9B37-B775E00E28D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FDB21E01-5432-4E00-B66B-54587DF4D73B}" type="pres">
      <dgm:prSet presAssocID="{A85A4636-8ADF-40B0-9B37-B775E00E28DC}" presName="spaceRect" presStyleCnt="0"/>
      <dgm:spPr/>
    </dgm:pt>
    <dgm:pt modelId="{213B2292-1ADC-4D44-A553-99390DE01C29}" type="pres">
      <dgm:prSet presAssocID="{A85A4636-8ADF-40B0-9B37-B775E00E28DC}" presName="parTx" presStyleLbl="revTx" presStyleIdx="1" presStyleCnt="3">
        <dgm:presLayoutVars>
          <dgm:chMax val="0"/>
          <dgm:chPref val="0"/>
        </dgm:presLayoutVars>
      </dgm:prSet>
      <dgm:spPr/>
    </dgm:pt>
    <dgm:pt modelId="{8F002D1B-D50D-4E39-90D9-F82F6F9BB863}" type="pres">
      <dgm:prSet presAssocID="{8A05CA87-CDF3-4717-90F7-8B1974FE1D5F}" presName="sibTrans" presStyleCnt="0"/>
      <dgm:spPr/>
    </dgm:pt>
    <dgm:pt modelId="{28DAFF76-64B7-4365-A5A3-85A0458E6D01}" type="pres">
      <dgm:prSet presAssocID="{37DF3098-8044-48E1-8E02-70F0AE6ABED5}" presName="compNode" presStyleCnt="0"/>
      <dgm:spPr/>
    </dgm:pt>
    <dgm:pt modelId="{A70724E8-3A52-4C26-BF2B-63BA26B4D408}" type="pres">
      <dgm:prSet presAssocID="{37DF3098-8044-48E1-8E02-70F0AE6ABED5}" presName="bgRect" presStyleLbl="bgShp" presStyleIdx="2" presStyleCnt="3"/>
      <dgm:spPr/>
    </dgm:pt>
    <dgm:pt modelId="{C3F729C9-B655-4C37-BC16-AF748E64EBFD}" type="pres">
      <dgm:prSet presAssocID="{37DF3098-8044-48E1-8E02-70F0AE6ABED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87455D0-E8D9-4CD7-97AC-E8FB38AD2B25}" type="pres">
      <dgm:prSet presAssocID="{37DF3098-8044-48E1-8E02-70F0AE6ABED5}" presName="spaceRect" presStyleCnt="0"/>
      <dgm:spPr/>
    </dgm:pt>
    <dgm:pt modelId="{4CACE7D3-E287-483E-B17B-8CF02DC23B56}" type="pres">
      <dgm:prSet presAssocID="{37DF3098-8044-48E1-8E02-70F0AE6ABED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A66124F-4E59-4556-AFC1-01B09F831A25}" srcId="{FDD52965-731E-4032-B651-9A3FDBC48DB8}" destId="{A85A4636-8ADF-40B0-9B37-B775E00E28DC}" srcOrd="1" destOrd="0" parTransId="{D3BAFF0D-5622-4092-B985-FAFC4AB1FA03}" sibTransId="{8A05CA87-CDF3-4717-90F7-8B1974FE1D5F}"/>
    <dgm:cxn modelId="{6A8F704F-98F8-4329-96AE-24314B38E704}" type="presOf" srcId="{F40DE178-3563-41F7-9858-2D596AA5CEBF}" destId="{00E3D3D1-198A-43DB-9EE7-2D89DD3F7788}" srcOrd="0" destOrd="0" presId="urn:microsoft.com/office/officeart/2018/2/layout/IconVerticalSolidList"/>
    <dgm:cxn modelId="{B5039358-8C68-41B4-9450-031A322A2509}" type="presOf" srcId="{37DF3098-8044-48E1-8E02-70F0AE6ABED5}" destId="{4CACE7D3-E287-483E-B17B-8CF02DC23B56}" srcOrd="0" destOrd="0" presId="urn:microsoft.com/office/officeart/2018/2/layout/IconVerticalSolidList"/>
    <dgm:cxn modelId="{38FADC95-D73B-4B94-BD15-FC29482810F9}" srcId="{FDD52965-731E-4032-B651-9A3FDBC48DB8}" destId="{F40DE178-3563-41F7-9858-2D596AA5CEBF}" srcOrd="0" destOrd="0" parTransId="{658266C1-528E-4BB9-866F-096D29E29609}" sibTransId="{FDAB1694-5B93-487F-AAEB-2C278BA78E81}"/>
    <dgm:cxn modelId="{8E3BC0C6-D04C-42DE-ABB0-7577CFFE338E}" type="presOf" srcId="{A85A4636-8ADF-40B0-9B37-B775E00E28DC}" destId="{213B2292-1ADC-4D44-A553-99390DE01C29}" srcOrd="0" destOrd="0" presId="urn:microsoft.com/office/officeart/2018/2/layout/IconVerticalSolidList"/>
    <dgm:cxn modelId="{9F0FE1E9-377E-4532-A08F-3A89E2A45590}" type="presOf" srcId="{FDD52965-731E-4032-B651-9A3FDBC48DB8}" destId="{0F02757E-FC82-4570-B1CB-0E96F9B63A0C}" srcOrd="0" destOrd="0" presId="urn:microsoft.com/office/officeart/2018/2/layout/IconVerticalSolidList"/>
    <dgm:cxn modelId="{3299F5F0-ABB7-49D8-BA0D-533704F80E58}" srcId="{FDD52965-731E-4032-B651-9A3FDBC48DB8}" destId="{37DF3098-8044-48E1-8E02-70F0AE6ABED5}" srcOrd="2" destOrd="0" parTransId="{C6CF44CE-0A9B-481D-AEC0-5C6C5E6ACB88}" sibTransId="{C9A0E272-1F77-4681-A918-5015298757EB}"/>
    <dgm:cxn modelId="{BEB2B7EF-27F4-419D-8690-87F36B92B18D}" type="presParOf" srcId="{0F02757E-FC82-4570-B1CB-0E96F9B63A0C}" destId="{5012C0AB-A5D5-4440-A797-478B8243CB39}" srcOrd="0" destOrd="0" presId="urn:microsoft.com/office/officeart/2018/2/layout/IconVerticalSolidList"/>
    <dgm:cxn modelId="{B1840799-E66D-42E4-8C9E-48310A2A18A2}" type="presParOf" srcId="{5012C0AB-A5D5-4440-A797-478B8243CB39}" destId="{BBF4FA0A-3D34-457C-AC45-47E052A27970}" srcOrd="0" destOrd="0" presId="urn:microsoft.com/office/officeart/2018/2/layout/IconVerticalSolidList"/>
    <dgm:cxn modelId="{7DDE57C4-9C20-4701-8DA4-587241A2331F}" type="presParOf" srcId="{5012C0AB-A5D5-4440-A797-478B8243CB39}" destId="{E402BD45-0C35-43BF-90BB-E610DA83F6FF}" srcOrd="1" destOrd="0" presId="urn:microsoft.com/office/officeart/2018/2/layout/IconVerticalSolidList"/>
    <dgm:cxn modelId="{797E1D92-FEA2-4AE6-8456-E8FB0D876F58}" type="presParOf" srcId="{5012C0AB-A5D5-4440-A797-478B8243CB39}" destId="{319FE883-D6D5-4E93-95E5-2535925BCF77}" srcOrd="2" destOrd="0" presId="urn:microsoft.com/office/officeart/2018/2/layout/IconVerticalSolidList"/>
    <dgm:cxn modelId="{907D59CC-0240-46C2-8936-5AD2B43D2848}" type="presParOf" srcId="{5012C0AB-A5D5-4440-A797-478B8243CB39}" destId="{00E3D3D1-198A-43DB-9EE7-2D89DD3F7788}" srcOrd="3" destOrd="0" presId="urn:microsoft.com/office/officeart/2018/2/layout/IconVerticalSolidList"/>
    <dgm:cxn modelId="{46247671-ABDC-48CA-BEB9-DFE4793983B8}" type="presParOf" srcId="{0F02757E-FC82-4570-B1CB-0E96F9B63A0C}" destId="{BBA158A7-9693-406D-A462-DAF41BDA2EDC}" srcOrd="1" destOrd="0" presId="urn:microsoft.com/office/officeart/2018/2/layout/IconVerticalSolidList"/>
    <dgm:cxn modelId="{4BFEA36C-5BE4-4225-95E8-9778955B4A97}" type="presParOf" srcId="{0F02757E-FC82-4570-B1CB-0E96F9B63A0C}" destId="{8E01F4AB-1780-46A5-AEB2-35C55824546B}" srcOrd="2" destOrd="0" presId="urn:microsoft.com/office/officeart/2018/2/layout/IconVerticalSolidList"/>
    <dgm:cxn modelId="{9ADC096F-97D3-4E68-ADB1-7E817BC04BA0}" type="presParOf" srcId="{8E01F4AB-1780-46A5-AEB2-35C55824546B}" destId="{CAE12029-0B05-4A71-A637-02899CFB41FD}" srcOrd="0" destOrd="0" presId="urn:microsoft.com/office/officeart/2018/2/layout/IconVerticalSolidList"/>
    <dgm:cxn modelId="{61D87E59-D8E7-4853-A156-20F77FD74972}" type="presParOf" srcId="{8E01F4AB-1780-46A5-AEB2-35C55824546B}" destId="{EAF35D97-49C1-4B2D-BF31-2BE42C0C2637}" srcOrd="1" destOrd="0" presId="urn:microsoft.com/office/officeart/2018/2/layout/IconVerticalSolidList"/>
    <dgm:cxn modelId="{5180F295-8E87-493F-8203-3A495A391B78}" type="presParOf" srcId="{8E01F4AB-1780-46A5-AEB2-35C55824546B}" destId="{FDB21E01-5432-4E00-B66B-54587DF4D73B}" srcOrd="2" destOrd="0" presId="urn:microsoft.com/office/officeart/2018/2/layout/IconVerticalSolidList"/>
    <dgm:cxn modelId="{E44A53F0-C2EB-4824-8120-DC0C5D5CB584}" type="presParOf" srcId="{8E01F4AB-1780-46A5-AEB2-35C55824546B}" destId="{213B2292-1ADC-4D44-A553-99390DE01C29}" srcOrd="3" destOrd="0" presId="urn:microsoft.com/office/officeart/2018/2/layout/IconVerticalSolidList"/>
    <dgm:cxn modelId="{2EDBD5A1-F4A4-413C-9E96-FBAF8CAAAD38}" type="presParOf" srcId="{0F02757E-FC82-4570-B1CB-0E96F9B63A0C}" destId="{8F002D1B-D50D-4E39-90D9-F82F6F9BB863}" srcOrd="3" destOrd="0" presId="urn:microsoft.com/office/officeart/2018/2/layout/IconVerticalSolidList"/>
    <dgm:cxn modelId="{C16BB0F2-4EEE-42C3-A172-FD2A0CDDE706}" type="presParOf" srcId="{0F02757E-FC82-4570-B1CB-0E96F9B63A0C}" destId="{28DAFF76-64B7-4365-A5A3-85A0458E6D01}" srcOrd="4" destOrd="0" presId="urn:microsoft.com/office/officeart/2018/2/layout/IconVerticalSolidList"/>
    <dgm:cxn modelId="{32EB05AD-9637-452B-8145-925605D00B12}" type="presParOf" srcId="{28DAFF76-64B7-4365-A5A3-85A0458E6D01}" destId="{A70724E8-3A52-4C26-BF2B-63BA26B4D408}" srcOrd="0" destOrd="0" presId="urn:microsoft.com/office/officeart/2018/2/layout/IconVerticalSolidList"/>
    <dgm:cxn modelId="{FE01646E-6B1D-4040-B8C9-3D2C7FEAD4AC}" type="presParOf" srcId="{28DAFF76-64B7-4365-A5A3-85A0458E6D01}" destId="{C3F729C9-B655-4C37-BC16-AF748E64EBFD}" srcOrd="1" destOrd="0" presId="urn:microsoft.com/office/officeart/2018/2/layout/IconVerticalSolidList"/>
    <dgm:cxn modelId="{8DBA27D5-958F-438C-BA33-5824AFDA0072}" type="presParOf" srcId="{28DAFF76-64B7-4365-A5A3-85A0458E6D01}" destId="{887455D0-E8D9-4CD7-97AC-E8FB38AD2B25}" srcOrd="2" destOrd="0" presId="urn:microsoft.com/office/officeart/2018/2/layout/IconVerticalSolidList"/>
    <dgm:cxn modelId="{E4A9366F-86E2-4830-A0D9-C49743CF368B}" type="presParOf" srcId="{28DAFF76-64B7-4365-A5A3-85A0458E6D01}" destId="{4CACE7D3-E287-483E-B17B-8CF02DC23B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4FA0A-3D34-457C-AC45-47E052A27970}">
      <dsp:nvSpPr>
        <dsp:cNvPr id="0" name=""/>
        <dsp:cNvSpPr/>
      </dsp:nvSpPr>
      <dsp:spPr>
        <a:xfrm>
          <a:off x="0" y="538"/>
          <a:ext cx="10945037" cy="12609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2BD45-0C35-43BF-90BB-E610DA83F6FF}">
      <dsp:nvSpPr>
        <dsp:cNvPr id="0" name=""/>
        <dsp:cNvSpPr/>
      </dsp:nvSpPr>
      <dsp:spPr>
        <a:xfrm>
          <a:off x="381433" y="284249"/>
          <a:ext cx="693514" cy="6935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3D3D1-198A-43DB-9EE7-2D89DD3F7788}">
      <dsp:nvSpPr>
        <dsp:cNvPr id="0" name=""/>
        <dsp:cNvSpPr/>
      </dsp:nvSpPr>
      <dsp:spPr>
        <a:xfrm>
          <a:off x="1456381" y="538"/>
          <a:ext cx="9488655" cy="126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449" tIns="133449" rIns="133449" bIns="13344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Opportunity</a:t>
          </a:r>
          <a:r>
            <a:rPr lang="hu-HU" sz="1700" b="1" kern="1200"/>
            <a:t>: </a:t>
          </a:r>
          <a:r>
            <a:rPr lang="en-US" sz="1700" kern="1200"/>
            <a:t>The organization’s cash flow and financial stability can be significantly enhanced through the aggressive tackling and reducing the overdue invoices as the main opportunity.</a:t>
          </a:r>
        </a:p>
      </dsp:txBody>
      <dsp:txXfrm>
        <a:off x="1456381" y="538"/>
        <a:ext cx="9488655" cy="1260936"/>
      </dsp:txXfrm>
    </dsp:sp>
    <dsp:sp modelId="{CAE12029-0B05-4A71-A637-02899CFB41FD}">
      <dsp:nvSpPr>
        <dsp:cNvPr id="0" name=""/>
        <dsp:cNvSpPr/>
      </dsp:nvSpPr>
      <dsp:spPr>
        <a:xfrm>
          <a:off x="0" y="1576708"/>
          <a:ext cx="10945037" cy="12609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F35D97-49C1-4B2D-BF31-2BE42C0C2637}">
      <dsp:nvSpPr>
        <dsp:cNvPr id="0" name=""/>
        <dsp:cNvSpPr/>
      </dsp:nvSpPr>
      <dsp:spPr>
        <a:xfrm>
          <a:off x="381433" y="1860419"/>
          <a:ext cx="693514" cy="6935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B2292-1ADC-4D44-A553-99390DE01C29}">
      <dsp:nvSpPr>
        <dsp:cNvPr id="0" name=""/>
        <dsp:cNvSpPr/>
      </dsp:nvSpPr>
      <dsp:spPr>
        <a:xfrm>
          <a:off x="1456381" y="1576708"/>
          <a:ext cx="9488655" cy="126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449" tIns="133449" rIns="133449" bIns="13344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1" kern="1200" dirty="0" err="1"/>
            <a:t>Current</a:t>
          </a:r>
          <a:r>
            <a:rPr lang="hu-HU" sz="1700" b="1" kern="1200" dirty="0"/>
            <a:t> </a:t>
          </a:r>
          <a:r>
            <a:rPr lang="hu-HU" sz="1700" b="1" kern="1200" dirty="0" err="1"/>
            <a:t>Problem</a:t>
          </a:r>
          <a:r>
            <a:rPr lang="hu-HU" sz="1700" b="1" kern="1200" dirty="0"/>
            <a:t>:</a:t>
          </a:r>
          <a:r>
            <a:rPr lang="en-US" sz="1700" kern="1200" dirty="0"/>
            <a:t>By analyzing the data, it becomes clear that the main source of revenue is the projects invoiced. It is expected that some of these invoices will become overdue, which will have a direct effect on working capital and will cause a slowdown in business operations</a:t>
          </a:r>
          <a:r>
            <a:rPr lang="hu-HU" sz="1700" kern="1200" dirty="0"/>
            <a:t>.</a:t>
          </a:r>
          <a:endParaRPr lang="en-US" sz="1700" kern="1200" dirty="0"/>
        </a:p>
      </dsp:txBody>
      <dsp:txXfrm>
        <a:off x="1456381" y="1576708"/>
        <a:ext cx="9488655" cy="1260936"/>
      </dsp:txXfrm>
    </dsp:sp>
    <dsp:sp modelId="{A70724E8-3A52-4C26-BF2B-63BA26B4D408}">
      <dsp:nvSpPr>
        <dsp:cNvPr id="0" name=""/>
        <dsp:cNvSpPr/>
      </dsp:nvSpPr>
      <dsp:spPr>
        <a:xfrm>
          <a:off x="0" y="3152879"/>
          <a:ext cx="10945037" cy="12609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729C9-B655-4C37-BC16-AF748E64EBFD}">
      <dsp:nvSpPr>
        <dsp:cNvPr id="0" name=""/>
        <dsp:cNvSpPr/>
      </dsp:nvSpPr>
      <dsp:spPr>
        <a:xfrm>
          <a:off x="381433" y="3436589"/>
          <a:ext cx="693514" cy="6935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CE7D3-E287-483E-B17B-8CF02DC23B56}">
      <dsp:nvSpPr>
        <dsp:cNvPr id="0" name=""/>
        <dsp:cNvSpPr/>
      </dsp:nvSpPr>
      <dsp:spPr>
        <a:xfrm>
          <a:off x="1456381" y="3152879"/>
          <a:ext cx="9488655" cy="1260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449" tIns="133449" rIns="133449" bIns="13344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700" b="1" kern="1200" dirty="0" err="1"/>
            <a:t>Solution</a:t>
          </a:r>
          <a:r>
            <a:rPr lang="hu-HU" sz="1700" kern="1200" dirty="0"/>
            <a:t>:</a:t>
          </a:r>
          <a:r>
            <a:rPr lang="en-US" sz="1700" kern="1200" dirty="0"/>
            <a:t>Implement a Targeted Accounts Receivable (AR) Optimization Program focusing on:</a:t>
          </a:r>
          <a:r>
            <a:rPr lang="hu-HU" sz="1700" kern="1200" dirty="0"/>
            <a:t> </a:t>
          </a:r>
          <a:r>
            <a:rPr lang="hu-HU" sz="1700" kern="1200" dirty="0" err="1"/>
            <a:t>customers</a:t>
          </a:r>
          <a:r>
            <a:rPr lang="hu-HU" sz="1700" kern="1200" dirty="0"/>
            <a:t>, </a:t>
          </a:r>
          <a:r>
            <a:rPr lang="hu-HU" sz="1700" kern="1200" dirty="0" err="1"/>
            <a:t>payments</a:t>
          </a:r>
          <a:r>
            <a:rPr lang="hu-HU" sz="1700" kern="1200" dirty="0"/>
            <a:t>, and </a:t>
          </a:r>
          <a:r>
            <a:rPr lang="hu-HU" sz="1700" kern="1200" dirty="0" err="1"/>
            <a:t>invoices</a:t>
          </a:r>
          <a:r>
            <a:rPr lang="hu-HU" sz="1700" kern="1200" dirty="0"/>
            <a:t>, and </a:t>
          </a:r>
          <a:r>
            <a:rPr lang="hu-HU" sz="1700" kern="1200" dirty="0" err="1"/>
            <a:t>eliminate</a:t>
          </a:r>
          <a:r>
            <a:rPr lang="hu-HU" sz="1700" kern="1200" dirty="0"/>
            <a:t> </a:t>
          </a:r>
          <a:r>
            <a:rPr lang="hu-HU" sz="1700" kern="1200" dirty="0" err="1"/>
            <a:t>all</a:t>
          </a:r>
          <a:r>
            <a:rPr lang="hu-HU" sz="1700" kern="1200" dirty="0"/>
            <a:t> </a:t>
          </a:r>
          <a:r>
            <a:rPr lang="hu-HU" sz="1700" kern="1200" dirty="0" err="1"/>
            <a:t>overdue</a:t>
          </a:r>
          <a:r>
            <a:rPr lang="hu-HU" sz="1700" kern="1200" dirty="0"/>
            <a:t> </a:t>
          </a:r>
          <a:r>
            <a:rPr lang="hu-HU" sz="1700" kern="1200" dirty="0" err="1"/>
            <a:t>invoices</a:t>
          </a:r>
          <a:r>
            <a:rPr lang="hu-HU" sz="1700" kern="1200" dirty="0"/>
            <a:t>. </a:t>
          </a:r>
          <a:endParaRPr lang="en-US" sz="1700" kern="1200" dirty="0"/>
        </a:p>
      </dsp:txBody>
      <dsp:txXfrm>
        <a:off x="1456381" y="3152879"/>
        <a:ext cx="9488655" cy="12609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8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0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3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1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3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54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8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4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9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alculator, pen, compass, money and a paper with graphs printed on it">
            <a:extLst>
              <a:ext uri="{FF2B5EF4-FFF2-40B4-BE49-F238E27FC236}">
                <a16:creationId xmlns:a16="http://schemas.microsoft.com/office/drawing/2014/main" id="{CC6B0609-F0AB-52FE-2E06-F605CCA91D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6639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49717A-FACE-BE6D-097F-9C52CAE85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hu-HU" sz="5400" err="1">
                <a:solidFill>
                  <a:srgbClr val="FFFFFF"/>
                </a:solidFill>
              </a:rPr>
              <a:t>Improving</a:t>
            </a:r>
            <a:r>
              <a:rPr lang="hu-HU" sz="5400">
                <a:solidFill>
                  <a:srgbClr val="FFFFFF"/>
                </a:solidFill>
              </a:rPr>
              <a:t> Cash Flow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2157A-F80E-CF92-D128-7C29B69ED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hu-HU" sz="2200" dirty="0">
                <a:solidFill>
                  <a:srgbClr val="FFFFFF"/>
                </a:solidFill>
              </a:rPr>
              <a:t>12/5/2025</a:t>
            </a:r>
          </a:p>
          <a:p>
            <a:r>
              <a:rPr lang="hu-HU" sz="2200">
                <a:solidFill>
                  <a:srgbClr val="FFFFFF"/>
                </a:solidFill>
              </a:rPr>
              <a:t>Kolos Nagy</a:t>
            </a:r>
            <a:endParaRPr lang="hu-HU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651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98AE4-C099-1105-D397-FE29BD1A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/>
              <a:t>Improving Cash Flow by Addressing Overdue Invoices</a:t>
            </a:r>
            <a:endParaRPr lang="hu-HU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D55371-E559-F85F-3E31-E08634568D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972439"/>
              </p:ext>
            </p:extLst>
          </p:nvPr>
        </p:nvGraphicFramePr>
        <p:xfrm>
          <a:off x="497629" y="1679768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7745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C8C3B-DF24-E7A2-B713-C27CC93A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hu-HU" err="1"/>
              <a:t>Performing</a:t>
            </a:r>
            <a:r>
              <a:rPr lang="hu-HU"/>
              <a:t> an </a:t>
            </a:r>
            <a:r>
              <a:rPr lang="hu-HU" err="1"/>
              <a:t>Exploratory</a:t>
            </a:r>
            <a:r>
              <a:rPr lang="hu-HU"/>
              <a:t> Data </a:t>
            </a:r>
            <a:r>
              <a:rPr lang="hu-HU" err="1"/>
              <a:t>Analysis</a:t>
            </a:r>
            <a:r>
              <a:rPr lang="hu-HU"/>
              <a:t> (EDA)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58D4935-0A16-D221-3BFF-585669B26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78" y="2441274"/>
            <a:ext cx="5173647" cy="35568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1D592-D47E-32AB-C248-16B64BF7B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anchor="t">
            <a:normAutofit/>
          </a:bodyPr>
          <a:lstStyle/>
          <a:p>
            <a:r>
              <a:rPr lang="hu-HU" sz="1800" dirty="0"/>
              <a:t>1. </a:t>
            </a:r>
            <a:r>
              <a:rPr lang="hu-HU" sz="1800" dirty="0" err="1"/>
              <a:t>Step</a:t>
            </a:r>
            <a:r>
              <a:rPr lang="hu-HU" sz="1800" dirty="0"/>
              <a:t> is </a:t>
            </a:r>
            <a:r>
              <a:rPr lang="hu-HU" sz="1800" dirty="0" err="1"/>
              <a:t>to</a:t>
            </a:r>
            <a:r>
              <a:rPr lang="hu-HU" sz="1800" dirty="0"/>
              <a:t> </a:t>
            </a:r>
            <a:r>
              <a:rPr lang="hu-HU" sz="1800" dirty="0" err="1"/>
              <a:t>identify</a:t>
            </a:r>
            <a:r>
              <a:rPr lang="hu-HU" sz="1800" dirty="0"/>
              <a:t>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scale</a:t>
            </a:r>
            <a:r>
              <a:rPr lang="hu-HU" sz="1800" dirty="0"/>
              <a:t> of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problem</a:t>
            </a:r>
            <a:r>
              <a:rPr lang="hu-HU" sz="1800" dirty="0"/>
              <a:t>, in </a:t>
            </a:r>
            <a:r>
              <a:rPr lang="hu-HU" sz="1800" dirty="0" err="1"/>
              <a:t>this</a:t>
            </a:r>
            <a:r>
              <a:rPr lang="hu-HU" sz="1800" dirty="0"/>
              <a:t> </a:t>
            </a:r>
            <a:r>
              <a:rPr lang="hu-HU" sz="1800" dirty="0" err="1"/>
              <a:t>case</a:t>
            </a:r>
            <a:r>
              <a:rPr lang="hu-HU" sz="1800" dirty="0"/>
              <a:t>,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overdue</a:t>
            </a:r>
            <a:r>
              <a:rPr lang="hu-HU" sz="1800" dirty="0"/>
              <a:t> </a:t>
            </a:r>
            <a:r>
              <a:rPr lang="hu-HU" sz="1800" dirty="0" err="1"/>
              <a:t>invoices</a:t>
            </a:r>
            <a:r>
              <a:rPr lang="hu-HU" sz="1800" dirty="0"/>
              <a:t>. </a:t>
            </a:r>
          </a:p>
          <a:p>
            <a:r>
              <a:rPr lang="hu-HU" sz="1800" dirty="0" err="1"/>
              <a:t>First</a:t>
            </a:r>
            <a:r>
              <a:rPr lang="hu-HU" sz="1800" dirty="0"/>
              <a:t> </a:t>
            </a:r>
            <a:r>
              <a:rPr lang="hu-HU" sz="1800" dirty="0" err="1"/>
              <a:t>goal</a:t>
            </a:r>
            <a:r>
              <a:rPr lang="hu-HU" sz="1800" dirty="0"/>
              <a:t> is </a:t>
            </a:r>
            <a:r>
              <a:rPr lang="hu-HU" sz="1800" dirty="0" err="1"/>
              <a:t>to</a:t>
            </a:r>
            <a:r>
              <a:rPr lang="hu-HU" sz="1800" dirty="0"/>
              <a:t> </a:t>
            </a:r>
            <a:r>
              <a:rPr lang="hu-HU" sz="1800" dirty="0" err="1"/>
              <a:t>find</a:t>
            </a:r>
            <a:r>
              <a:rPr lang="hu-HU" sz="1800" dirty="0"/>
              <a:t>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total</a:t>
            </a:r>
            <a:r>
              <a:rPr lang="hu-HU" sz="1800" dirty="0"/>
              <a:t> </a:t>
            </a:r>
            <a:r>
              <a:rPr lang="hu-HU" sz="1800" dirty="0" err="1"/>
              <a:t>amount</a:t>
            </a:r>
            <a:r>
              <a:rPr lang="hu-HU" sz="1800" dirty="0"/>
              <a:t> of </a:t>
            </a:r>
            <a:r>
              <a:rPr lang="hu-HU" sz="1800" dirty="0" err="1"/>
              <a:t>invoices</a:t>
            </a:r>
            <a:r>
              <a:rPr lang="hu-HU" sz="1800" dirty="0"/>
              <a:t> </a:t>
            </a:r>
            <a:r>
              <a:rPr lang="hu-HU" sz="1800" dirty="0" err="1"/>
              <a:t>that</a:t>
            </a:r>
            <a:r>
              <a:rPr lang="hu-HU" sz="1800" dirty="0"/>
              <a:t> </a:t>
            </a:r>
            <a:r>
              <a:rPr lang="hu-HU" sz="1800" dirty="0" err="1"/>
              <a:t>have</a:t>
            </a:r>
            <a:r>
              <a:rPr lang="hu-HU" sz="1800" dirty="0"/>
              <a:t> an ‚</a:t>
            </a:r>
            <a:r>
              <a:rPr lang="hu-HU" sz="1800" dirty="0" err="1"/>
              <a:t>Overdue</a:t>
            </a:r>
            <a:r>
              <a:rPr lang="hu-HU" sz="1800" dirty="0"/>
              <a:t>’ status. </a:t>
            </a:r>
          </a:p>
          <a:p>
            <a:r>
              <a:rPr lang="hu-HU" sz="1800" dirty="0" err="1"/>
              <a:t>After</a:t>
            </a:r>
            <a:r>
              <a:rPr lang="hu-HU" sz="1800" dirty="0"/>
              <a:t> </a:t>
            </a:r>
            <a:r>
              <a:rPr lang="hu-HU" sz="1800" dirty="0" err="1"/>
              <a:t>running</a:t>
            </a:r>
            <a:r>
              <a:rPr lang="hu-HU" sz="1800" dirty="0"/>
              <a:t>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query</a:t>
            </a:r>
            <a:r>
              <a:rPr lang="hu-HU" sz="1800" dirty="0"/>
              <a:t> in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picture</a:t>
            </a:r>
            <a:r>
              <a:rPr lang="hu-HU" sz="1800" dirty="0"/>
              <a:t>, </a:t>
            </a:r>
            <a:r>
              <a:rPr lang="hu-HU" sz="1800" dirty="0" err="1"/>
              <a:t>we</a:t>
            </a:r>
            <a:r>
              <a:rPr lang="hu-HU" sz="1800" dirty="0"/>
              <a:t> </a:t>
            </a:r>
            <a:r>
              <a:rPr lang="hu-HU" sz="1800" dirty="0" err="1"/>
              <a:t>can</a:t>
            </a:r>
            <a:r>
              <a:rPr lang="hu-HU" sz="1800" dirty="0"/>
              <a:t> </a:t>
            </a:r>
            <a:r>
              <a:rPr lang="hu-HU" sz="1800" dirty="0" err="1"/>
              <a:t>identify</a:t>
            </a:r>
            <a:r>
              <a:rPr lang="hu-HU" sz="1800" dirty="0"/>
              <a:t>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overdue</a:t>
            </a:r>
            <a:r>
              <a:rPr lang="hu-HU" sz="1800" dirty="0"/>
              <a:t> </a:t>
            </a:r>
            <a:r>
              <a:rPr lang="hu-HU" sz="1800" dirty="0" err="1"/>
              <a:t>invoices</a:t>
            </a:r>
            <a:r>
              <a:rPr lang="hu-HU" sz="1800" dirty="0"/>
              <a:t>. </a:t>
            </a:r>
          </a:p>
          <a:p>
            <a:r>
              <a:rPr lang="en-US" sz="1800" b="1" dirty="0"/>
              <a:t>EDA Finding 1</a:t>
            </a:r>
            <a:r>
              <a:rPr lang="en-US" sz="1800" dirty="0"/>
              <a:t>: We have one invoice currently Overdue (Harbor Retail 204), amounting to $1,370.00 of frozen capital.</a:t>
            </a:r>
            <a:r>
              <a:rPr lang="hu-HU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4455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7EC0-7D4D-0DD9-2C15-6B7D8F03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0477-F2EA-5BE7-0971-9E8E50DA6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0" indent="-228600" rtl="0">
              <a:lnSpc>
                <a:spcPts val="2400"/>
              </a:lnSpc>
              <a:buFont typeface=""/>
              <a:buChar char="•"/>
            </a:pPr>
            <a:r>
              <a:rPr lang="en-US" sz="2000" baseline="0">
                <a:solidFill>
                  <a:srgbClr val="000000"/>
                </a:solidFill>
                <a:latin typeface="Neue Haas Grotesk Text Pro"/>
                <a:ea typeface="Arial"/>
                <a:cs typeface="Arial"/>
              </a:rPr>
              <a:t>Overdue invoices directly restrict immediate cash availibilty</a:t>
            </a:r>
            <a:r>
              <a:rPr lang="en-US" sz="2000">
                <a:latin typeface="Neue Haas Grotesk Text Pro"/>
                <a:ea typeface="Arial"/>
                <a:cs typeface="Arial"/>
              </a:rPr>
              <a:t>​</a:t>
            </a:r>
          </a:p>
          <a:p>
            <a:pPr marL="228600" lvl="0" indent="-228600" rtl="0">
              <a:lnSpc>
                <a:spcPts val="2400"/>
              </a:lnSpc>
              <a:buFont typeface=""/>
              <a:buChar char="•"/>
            </a:pPr>
            <a:r>
              <a:rPr lang="en-US" sz="2000" baseline="0">
                <a:solidFill>
                  <a:srgbClr val="000000"/>
                </a:solidFill>
                <a:latin typeface="Neue Haas Grotesk Text Pro"/>
                <a:ea typeface="Arial"/>
                <a:cs typeface="Arial"/>
              </a:rPr>
              <a:t>If trend continues it can lead to problems such as</a:t>
            </a:r>
            <a:r>
              <a:rPr lang="en-US" sz="2000">
                <a:latin typeface="Neue Haas Grotesk Text Pro"/>
                <a:ea typeface="Arial"/>
                <a:cs typeface="Arial"/>
              </a:rPr>
              <a:t>​</a:t>
            </a:r>
          </a:p>
          <a:p>
            <a:pPr marL="228600" lvl="1" indent="-228600" rtl="0">
              <a:lnSpc>
                <a:spcPts val="2175"/>
              </a:lnSpc>
              <a:buFont typeface="Courier New,monospace"/>
              <a:buChar char="o"/>
            </a:pPr>
            <a:r>
              <a:rPr lang="en-US" sz="1800" baseline="0">
                <a:solidFill>
                  <a:srgbClr val="000000"/>
                </a:solidFill>
                <a:latin typeface="Neue Haas Grotesk Text Pro"/>
                <a:ea typeface="Arial"/>
                <a:cs typeface="Arial"/>
              </a:rPr>
              <a:t>Paying suppliers</a:t>
            </a:r>
            <a:r>
              <a:rPr lang="en-US" sz="1800">
                <a:latin typeface="Neue Haas Grotesk Text Pro"/>
                <a:ea typeface="Arial"/>
                <a:cs typeface="Arial"/>
              </a:rPr>
              <a:t>​</a:t>
            </a:r>
          </a:p>
          <a:p>
            <a:pPr marL="228600" lvl="1" indent="-228600" rtl="0">
              <a:lnSpc>
                <a:spcPts val="2175"/>
              </a:lnSpc>
              <a:buFont typeface="Courier New,monospace"/>
              <a:buChar char="o"/>
            </a:pPr>
            <a:r>
              <a:rPr lang="en-US" sz="1800" baseline="0">
                <a:solidFill>
                  <a:srgbClr val="000000"/>
                </a:solidFill>
                <a:latin typeface="Neue Haas Grotesk Text Pro"/>
                <a:ea typeface="Arial"/>
                <a:cs typeface="Arial"/>
              </a:rPr>
              <a:t>Covering operations costs</a:t>
            </a:r>
            <a:r>
              <a:rPr lang="en-US" sz="1800">
                <a:latin typeface="Neue Haas Grotesk Text Pro"/>
                <a:ea typeface="Arial"/>
                <a:cs typeface="Arial"/>
              </a:rPr>
              <a:t>​</a:t>
            </a:r>
          </a:p>
          <a:p>
            <a:pPr marL="228600" lvl="1" indent="-228600" rtl="0">
              <a:lnSpc>
                <a:spcPts val="2175"/>
              </a:lnSpc>
              <a:buFont typeface="Courier New,monospace"/>
              <a:buChar char="o"/>
            </a:pPr>
            <a:r>
              <a:rPr lang="en-US" sz="1800" baseline="0">
                <a:solidFill>
                  <a:srgbClr val="000000"/>
                </a:solidFill>
                <a:latin typeface="Neue Haas Grotesk Text Pro"/>
                <a:ea typeface="Arial"/>
                <a:cs typeface="Arial"/>
              </a:rPr>
              <a:t>Funding for future projects</a:t>
            </a:r>
            <a:r>
              <a:rPr lang="en-US" sz="1800">
                <a:latin typeface="Neue Haas Grotesk Text Pro"/>
                <a:ea typeface="Arial"/>
                <a:cs typeface="Arial"/>
              </a:rPr>
              <a:t>​</a:t>
            </a:r>
          </a:p>
          <a:p>
            <a:pPr marL="228600" lvl="0" indent="-228600" rtl="0">
              <a:lnSpc>
                <a:spcPts val="2400"/>
              </a:lnSpc>
              <a:buFont typeface=""/>
              <a:buChar char="•"/>
            </a:pPr>
            <a:r>
              <a:rPr lang="en-US" sz="2000" baseline="0">
                <a:solidFill>
                  <a:srgbClr val="000000"/>
                </a:solidFill>
                <a:latin typeface="Neue Haas Grotesk Text Pro"/>
                <a:ea typeface="Arial"/>
                <a:cs typeface="Arial"/>
              </a:rPr>
              <a:t>Addressing overdue balances early can help maintain even cash flow and prevent us from failing behind and causing issues down the line</a:t>
            </a:r>
            <a:r>
              <a:rPr lang="en-US" sz="2000">
                <a:latin typeface="Neue Haas Grotesk Text Pro"/>
                <a:ea typeface="Arial"/>
                <a:cs typeface="Arial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72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37FC4-277A-9F58-AF0D-54F1267C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EDA Insight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A386EE-7D8D-CEE5-3A47-05D3C9398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This allows us to see if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 dirty="0"/>
              <a:t>Payments are running on time or late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 dirty="0"/>
              <a:t>Which clients take the longest and shortest to pay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 dirty="0"/>
              <a:t>Is the payment overdue an anomaly or coincidence </a:t>
            </a:r>
          </a:p>
          <a:p>
            <a:pPr lvl="1"/>
            <a:endParaRPr lang="en-US" sz="1600" dirty="0"/>
          </a:p>
          <a:p>
            <a:endParaRPr lang="en-US" sz="1800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8433DC-8B59-40A8-F2CD-FC45E82C9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2480360"/>
            <a:ext cx="5837780" cy="189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3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ED3C57-CDAA-78B5-DB30-9E5EC2457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Indicators to Track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EA05C70-3161-1FF9-A984-CF6968BD89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5141646"/>
              </p:ext>
            </p:extLst>
          </p:nvPr>
        </p:nvGraphicFramePr>
        <p:xfrm>
          <a:off x="1851142" y="1711955"/>
          <a:ext cx="8202169" cy="390718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28582">
                  <a:extLst>
                    <a:ext uri="{9D8B030D-6E8A-4147-A177-3AD203B41FA5}">
                      <a16:colId xmlns:a16="http://schemas.microsoft.com/office/drawing/2014/main" val="1279517380"/>
                    </a:ext>
                  </a:extLst>
                </a:gridCol>
                <a:gridCol w="3480983">
                  <a:extLst>
                    <a:ext uri="{9D8B030D-6E8A-4147-A177-3AD203B41FA5}">
                      <a16:colId xmlns:a16="http://schemas.microsoft.com/office/drawing/2014/main" val="2190863125"/>
                    </a:ext>
                  </a:extLst>
                </a:gridCol>
                <a:gridCol w="2392604">
                  <a:extLst>
                    <a:ext uri="{9D8B030D-6E8A-4147-A177-3AD203B41FA5}">
                      <a16:colId xmlns:a16="http://schemas.microsoft.com/office/drawing/2014/main" val="1619540213"/>
                    </a:ext>
                  </a:extLst>
                </a:gridCol>
              </a:tblGrid>
              <a:tr h="662027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cap="all" spc="150">
                          <a:solidFill>
                            <a:schemeClr val="lt1"/>
                          </a:solidFill>
                          <a:effectLst/>
                          <a:latin typeface="Aptos Narrow" panose="020B0004020202020204" pitchFamily="34" charset="0"/>
                        </a:rPr>
                        <a:t>Metric</a:t>
                      </a:r>
                      <a:endParaRPr lang="en-US" sz="1800" b="0" cap="all" spc="15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158044" marR="158044" marT="158044" marB="1580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cap="all" spc="150">
                          <a:solidFill>
                            <a:schemeClr val="lt1"/>
                          </a:solidFill>
                          <a:effectLst/>
                          <a:latin typeface="Aptos Narrow" panose="020B0004020202020204" pitchFamily="34" charset="0"/>
                        </a:rPr>
                        <a:t>Meaning</a:t>
                      </a:r>
                      <a:endParaRPr lang="en-US" sz="1800" b="0" cap="all" spc="15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158044" marR="158044" marT="158044" marB="1580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cap="all" spc="150">
                          <a:solidFill>
                            <a:schemeClr val="lt1"/>
                          </a:solidFill>
                          <a:effectLst/>
                          <a:latin typeface="Aptos Narrow" panose="020B0004020202020204" pitchFamily="34" charset="0"/>
                        </a:rPr>
                        <a:t>Why It Matters</a:t>
                      </a:r>
                      <a:endParaRPr lang="en-US" sz="1800" b="0" cap="all" spc="150">
                        <a:solidFill>
                          <a:schemeClr val="lt1"/>
                        </a:solidFill>
                        <a:effectLst/>
                      </a:endParaRPr>
                    </a:p>
                  </a:txBody>
                  <a:tcPr marL="158044" marR="158044" marT="158044" marB="15804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931332"/>
                  </a:ext>
                </a:extLst>
              </a:tr>
              <a:tr h="65032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Days to Collect (DSO)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Avg time to receive payment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Longer = slower cash flow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71445"/>
                  </a:ext>
                </a:extLst>
              </a:tr>
              <a:tr h="972261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% of Invoices Overdue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Portion of receivables unpaid past terms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High % = weak collections process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464286"/>
                  </a:ext>
                </a:extLst>
              </a:tr>
              <a:tr h="972261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Aging Brackets (0-30)/(31-60)/(60+)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How long invoices remain unpaid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Shows risk levels &amp; trends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204330"/>
                  </a:ext>
                </a:extLst>
              </a:tr>
              <a:tr h="65032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Outstanding Receivables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Total cash not yet collected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Direct impact on liquidity</a:t>
                      </a:r>
                      <a:endParaRPr lang="en-US" sz="15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8044" marR="158044" marT="158044" marB="15804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829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15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4FE7-B650-B2AA-D611-DD7064CE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760E-C343-72ED-8C46-8869DF20D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Overdue invoices reduce working capital and slow operations. </a:t>
            </a:r>
          </a:p>
          <a:p>
            <a:r>
              <a:rPr lang="en-US"/>
              <a:t>A small number of overdue invoices can highlight larger AR Management issues</a:t>
            </a:r>
          </a:p>
          <a:p>
            <a:r>
              <a:rPr lang="en-US"/>
              <a:t>Pa</a:t>
            </a:r>
            <a:r>
              <a:rPr lang="en-US">
                <a:ea typeface="+mn-lt"/>
                <a:cs typeface="+mn-lt"/>
              </a:rPr>
              <a:t>yment terms and method likely influence the speed of cash inflow highlighting the need for strategic management of accounts receivable. </a:t>
            </a:r>
            <a:endParaRPr lang="en-US"/>
          </a:p>
          <a:p>
            <a:r>
              <a:rPr lang="en-US" b="1"/>
              <a:t>Opportunity: </a:t>
            </a:r>
            <a:r>
              <a:rPr lang="en-US" dirty="0">
                <a:ea typeface="+mn-lt"/>
                <a:cs typeface="+mn-lt"/>
              </a:rPr>
              <a:t>Implement a Targeted Accounts Receivable (AR) Optimization Program focusing on customers, payments, and invoices</a:t>
            </a:r>
            <a:endParaRPr lang="en-US" b="1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0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FD11-85E7-B423-9738-D544F156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Recommended Solution and 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01A6-3409-469A-9456-8ECB3BB2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6778"/>
            <a:ext cx="5477730" cy="46225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/>
              <a:t>AR Optimization Program</a:t>
            </a:r>
          </a:p>
          <a:p>
            <a:r>
              <a:rPr lang="en-US" b="1">
                <a:ea typeface="+mn-lt"/>
                <a:cs typeface="+mn-lt"/>
              </a:rPr>
              <a:t>Customer Management: </a:t>
            </a:r>
            <a:r>
              <a:rPr lang="en-US"/>
              <a:t>Automated reminders and early payment incentives</a:t>
            </a:r>
          </a:p>
          <a:p>
            <a:r>
              <a:rPr lang="en-US" b="1"/>
              <a:t>Invoice Process: </a:t>
            </a:r>
            <a:r>
              <a:rPr lang="en-US"/>
              <a:t>Flag approaching due dates; partial upfront payment</a:t>
            </a:r>
          </a:p>
          <a:p>
            <a:r>
              <a:rPr lang="en-US" b="1"/>
              <a:t>Payment Policies:</a:t>
            </a:r>
            <a:r>
              <a:rPr lang="en-US"/>
              <a:t> Encourage faster payment methods; adjust terms for higher risk customers 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C36D1-3A07-35F9-C3A1-3BDE84C67254}"/>
              </a:ext>
            </a:extLst>
          </p:cNvPr>
          <p:cNvSpPr txBox="1"/>
          <p:nvPr/>
        </p:nvSpPr>
        <p:spPr>
          <a:xfrm>
            <a:off x="5941214" y="1832042"/>
            <a:ext cx="5474101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ea typeface="+mn-lt"/>
                <a:cs typeface="+mn-lt"/>
              </a:rPr>
              <a:t>Expected Impact</a:t>
            </a:r>
            <a:endParaRPr lang="en-US" dirty="0"/>
          </a:p>
          <a:p>
            <a:pPr algn="ctr"/>
            <a:endParaRPr lang="en-US" sz="20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Reduce overdue invoices and free working capital.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Improve project execution and budgeting.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Lower financial risk and administrative effort.</a:t>
            </a:r>
            <a:endParaRPr lang="en-US" sz="2000" dirty="0"/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05962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D195C-79CC-EBED-AFFF-190AA7A0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0C87C-282D-BFDF-2AEE-F827FB71E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Implementing the AR Optimization Program stabilizes cash flow and reduces financial risk.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Proactive management of invoices ensures operational continuity and supports project funding.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Data-driven decisions strengthen financial performance and organizational efficiency.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Next Steps: monitor overdue invoices, refine AR processes, and track improvements over time.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4081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 Narrow</vt:lpstr>
      <vt:lpstr>Arial</vt:lpstr>
      <vt:lpstr>Courier New,monospace</vt:lpstr>
      <vt:lpstr>Neue Haas Grotesk Text Pro</vt:lpstr>
      <vt:lpstr>VanillaVTI</vt:lpstr>
      <vt:lpstr>Improving Cash Flow </vt:lpstr>
      <vt:lpstr>Improving Cash Flow by Addressing Overdue Invoices</vt:lpstr>
      <vt:lpstr>Performing an Exploratory Data Analysis (EDA)</vt:lpstr>
      <vt:lpstr>Why This Matters</vt:lpstr>
      <vt:lpstr>EDA Insight</vt:lpstr>
      <vt:lpstr>Indicators to Track</vt:lpstr>
      <vt:lpstr>Key Insights</vt:lpstr>
      <vt:lpstr>Recommended Solution and Expected Impact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Kolos</dc:creator>
  <cp:lastModifiedBy>Nagy Kolos</cp:lastModifiedBy>
  <cp:revision>23</cp:revision>
  <dcterms:created xsi:type="dcterms:W3CDTF">2025-12-05T18:17:21Z</dcterms:created>
  <dcterms:modified xsi:type="dcterms:W3CDTF">2026-09-23T09:51:17Z</dcterms:modified>
</cp:coreProperties>
</file>